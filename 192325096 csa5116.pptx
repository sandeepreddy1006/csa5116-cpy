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embeddedFontLst>
    <p:embeddedFont>
      <p:font typeface="Inter"/>
      <p:bold r:id="rId11"/>
    </p:embeddedFont>
    <p:embeddedFont>
      <p:font typeface="Space Grotesk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2A358A-CF16-CD0F-3416-4970AAF73EC4}"/>
              </a:ext>
            </a:extLst>
          </p:cNvPr>
          <p:cNvSpPr txBox="1"/>
          <p:nvPr/>
        </p:nvSpPr>
        <p:spPr>
          <a:xfrm>
            <a:off x="2272937" y="1645919"/>
            <a:ext cx="96055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 vs  Transposition</a:t>
            </a:r>
          </a:p>
          <a:p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466206-9ECB-AEAC-B5B2-424444048E56}"/>
              </a:ext>
            </a:extLst>
          </p:cNvPr>
          <p:cNvSpPr txBox="1"/>
          <p:nvPr/>
        </p:nvSpPr>
        <p:spPr>
          <a:xfrm>
            <a:off x="6862354" y="3429000"/>
            <a:ext cx="5016137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V. Sandeep Reddy(192325096)</a:t>
            </a:r>
          </a:p>
          <a:p>
            <a:r>
              <a:rPr lang="en-US" sz="2800" dirty="0"/>
              <a:t>CSA5116   </a:t>
            </a:r>
          </a:p>
          <a:p>
            <a:r>
              <a:rPr lang="en-IN" sz="2800" b="1" dirty="0"/>
              <a:t>CRYPTOGRAPHY AND NETWORK SECURITY</a:t>
            </a:r>
          </a:p>
          <a:p>
            <a:br>
              <a:rPr lang="en-IN" sz="3200" dirty="0"/>
            </a:br>
            <a:r>
              <a:rPr lang="en-US" sz="3000" dirty="0"/>
              <a:t> 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1562009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445966"/>
            <a:ext cx="5334000" cy="1876425"/>
          </a:xfrm>
          <a:prstGeom prst="roundRect">
            <a:avLst>
              <a:gd name="adj" fmla="val 812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3445966"/>
            <a:ext cx="38100" cy="18764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6667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B82F6"/>
                </a:solidFill>
                <a:latin typeface="Space Grotesk"/>
              </a:rPr>
              <a:t>CRYPTOGRAPHIC PRIMITIVES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90625"/>
            <a:ext cx="5700712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 dirty="0">
                <a:solidFill>
                  <a:srgbClr val="F8FAFC"/>
                </a:solidFill>
                <a:latin typeface="Space Grotesk"/>
              </a:rPr>
              <a:t>Substitution vs. Transposition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760166"/>
            <a:ext cx="70008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94A3B8"/>
                </a:solidFill>
                <a:latin typeface="Inter"/>
              </a:rPr>
              <a:t>Which Provides Better Security?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" y="3750766"/>
            <a:ext cx="58578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Executive Agenda: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4188916"/>
            <a:ext cx="5857875" cy="200025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Mechanics:</a:t>
            </a:r>
            <a:r>
              <a:rPr sz="1350" b="0" i="0" u="none">
                <a:solidFill>
                  <a:srgbClr val="3B82F6"/>
                </a:solidFill>
                <a:latin typeface="Inter"/>
              </a:rPr>
              <a:t> Confusion and Diffusion principles.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4503241"/>
            <a:ext cx="5857875" cy="200025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Vulnerabilities:</a:t>
            </a:r>
            <a:r>
              <a:rPr sz="1350" b="0" i="0" u="none">
                <a:solidFill>
                  <a:srgbClr val="3B82F6"/>
                </a:solidFill>
                <a:latin typeface="Inter"/>
              </a:rPr>
              <a:t> Frequency analysis and anagramming.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4817566"/>
            <a:ext cx="5857875" cy="200025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Resolution:</a:t>
            </a:r>
            <a:r>
              <a:rPr sz="1350" b="0" i="0" u="none">
                <a:solidFill>
                  <a:srgbClr val="3B82F6"/>
                </a:solidFill>
                <a:latin typeface="Inter"/>
              </a:rPr>
              <a:t> The modern Product Cipher approach.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77000" y="4446240"/>
            <a:ext cx="2362200" cy="1343025"/>
          </a:xfrm>
          <a:prstGeom prst="roundRect">
            <a:avLst>
              <a:gd name="adj" fmla="val 567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067800" y="4446240"/>
            <a:ext cx="2362200" cy="1343025"/>
          </a:xfrm>
          <a:prstGeom prst="roundRect">
            <a:avLst>
              <a:gd name="adj" fmla="val 567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77000" y="4446240"/>
            <a:ext cx="38100" cy="13430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67800" y="4446240"/>
            <a:ext cx="38100" cy="1343025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99058"/>
            <a:ext cx="4683034" cy="4953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77000" y="762000"/>
            <a:ext cx="5715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82F6"/>
                </a:solidFill>
                <a:latin typeface="Space Grotesk"/>
              </a:rPr>
              <a:t>CORE 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0" y="1085850"/>
            <a:ext cx="57150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Space Grotesk"/>
              </a:rPr>
              <a:t>Substitution Ciphers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1969740"/>
            <a:ext cx="5048250" cy="49530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Mechanism:</a:t>
            </a:r>
            <a:r>
              <a:rPr sz="1650" b="0" i="0" u="none">
                <a:solidFill>
                  <a:srgbClr val="3B82F6"/>
                </a:solidFill>
                <a:latin typeface="Inter"/>
              </a:rPr>
              <a:t> Replaces plaintext elements with alternate characters or symbols.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2693640"/>
            <a:ext cx="5048250" cy="49530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172A"/>
                </a:solidFill>
                <a:latin typeface="Inter"/>
              </a:rPr>
              <a:t>Objective:</a:t>
            </a:r>
            <a:r>
              <a:rPr sz="1650" b="0" i="0" u="none" dirty="0">
                <a:solidFill>
                  <a:srgbClr val="3B82F6"/>
                </a:solidFill>
                <a:latin typeface="Inter"/>
              </a:rPr>
              <a:t> Obscures the meaning and semantic value of the original message.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417540"/>
            <a:ext cx="5048250" cy="49530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Function:</a:t>
            </a:r>
            <a:r>
              <a:rPr sz="1650" b="0" i="0" u="none">
                <a:solidFill>
                  <a:srgbClr val="3B82F6"/>
                </a:solidFill>
                <a:latin typeface="Inter"/>
              </a:rPr>
              <a:t> Creates "Confusion" by complicating the key-to-ciphertext link.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4636740"/>
            <a:ext cx="2428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Monoalphabetic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600" y="4912965"/>
            <a:ext cx="20383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Like the Caesar Cipher. Shifts letters by a fixed amount. Extremely weak structure.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6400" y="4636740"/>
            <a:ext cx="2428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Polyalphabetic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6400" y="4912965"/>
            <a:ext cx="20383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Like the Vigenère Cipher. Uses multiple shifting alphabets to increase complexity.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4446240"/>
            <a:ext cx="2362200" cy="1343025"/>
          </a:xfrm>
          <a:prstGeom prst="roundRect">
            <a:avLst>
              <a:gd name="adj" fmla="val 56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52800" y="4446240"/>
            <a:ext cx="2362200" cy="1343025"/>
          </a:xfrm>
          <a:prstGeom prst="roundRect">
            <a:avLst>
              <a:gd name="adj" fmla="val 56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4446240"/>
            <a:ext cx="38100" cy="13430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352800" y="4446240"/>
            <a:ext cx="38100" cy="13430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799058"/>
            <a:ext cx="4953000" cy="4953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762000"/>
            <a:ext cx="6191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82F6"/>
                </a:solidFill>
                <a:latin typeface="Space Grotesk"/>
              </a:rPr>
              <a:t>CORE 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085850"/>
            <a:ext cx="6500812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Space Grotesk"/>
              </a:rPr>
              <a:t>Transposition Ciphers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969740"/>
            <a:ext cx="5048250" cy="49530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Mechanism:</a:t>
            </a:r>
            <a:r>
              <a:rPr sz="1650" b="0" i="0" u="none">
                <a:solidFill>
                  <a:srgbClr val="3B82F6"/>
                </a:solidFill>
                <a:latin typeface="Inter"/>
              </a:rPr>
              <a:t> Rearranges the positions of existing characters.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93640"/>
            <a:ext cx="5048250" cy="49530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Objective:</a:t>
            </a:r>
            <a:r>
              <a:rPr sz="1650" b="0" i="0" u="none">
                <a:solidFill>
                  <a:srgbClr val="3B82F6"/>
                </a:solidFill>
                <a:latin typeface="Inter"/>
              </a:rPr>
              <a:t> Scrambles original order without altering identities.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417540"/>
            <a:ext cx="5048250" cy="49530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Function:</a:t>
            </a:r>
            <a:r>
              <a:rPr sz="1650" b="0" i="0" u="none">
                <a:solidFill>
                  <a:srgbClr val="3B82F6"/>
                </a:solidFill>
                <a:latin typeface="Inter"/>
              </a:rPr>
              <a:t> Creates "Diffusion" by spreading local structure across the ciphertext.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4636740"/>
            <a:ext cx="2428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Rail Fence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4912965"/>
            <a:ext cx="20383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Writes text in a zigzag pattern. A highly basic geometric scrambling method.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1400" y="4636740"/>
            <a:ext cx="2428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Columnar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1400" y="4912965"/>
            <a:ext cx="20383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Writes into a grid, then reads out columns based on a keyword's alphabetical order.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762000"/>
            <a:ext cx="4953000" cy="4953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939105"/>
            <a:ext cx="6191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F4444"/>
                </a:solidFill>
                <a:latin typeface="Space Grotesk"/>
              </a:rPr>
              <a:t>THE VULNERABILITY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262955"/>
            <a:ext cx="6500812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Space Grotesk"/>
              </a:rPr>
              <a:t>Defeating Substitution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223045"/>
            <a:ext cx="6191250" cy="1333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sz="10500" b="1" i="0" u="none">
                <a:solidFill>
                  <a:srgbClr val="EF4444"/>
                </a:solidFill>
                <a:latin typeface="Space Grotesk"/>
              </a:rPr>
              <a:t>12.7%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708945"/>
            <a:ext cx="5048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Natural frequency of 'E' in the English language.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394745"/>
            <a:ext cx="44767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4748B"/>
                </a:solidFill>
                <a:latin typeface="Inter"/>
              </a:rPr>
              <a:t>Since substitution maintains the original character frequencies, attackers map common ciphertext symbols back to vowels. This was famously documented by Al-Kindi in the 9th Century.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045940"/>
            <a:ext cx="3352800" cy="2514600"/>
          </a:xfrm>
          <a:prstGeom prst="roundRect">
            <a:avLst>
              <a:gd name="adj" fmla="val 75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19600" y="2045940"/>
            <a:ext cx="3352800" cy="2514600"/>
          </a:xfrm>
          <a:prstGeom prst="roundRect">
            <a:avLst>
              <a:gd name="adj" fmla="val 75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045940"/>
            <a:ext cx="3352800" cy="2514600"/>
          </a:xfrm>
          <a:prstGeom prst="roundRect">
            <a:avLst>
              <a:gd name="adj" fmla="val 75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2045940"/>
            <a:ext cx="33528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419600" y="2045940"/>
            <a:ext cx="33528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7200" y="2045940"/>
            <a:ext cx="33528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7620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F4444"/>
                </a:solidFill>
                <a:latin typeface="Space Grotesk"/>
              </a:rPr>
              <a:t>THE VULNERABILITY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085850"/>
            <a:ext cx="114300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Space Grotesk"/>
              </a:rPr>
              <a:t>Defeating Transposition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846040"/>
            <a:ext cx="340042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pace Grotesk"/>
              </a:rPr>
              <a:t>Anagramming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303240"/>
            <a:ext cx="26860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Exploiting language patterns to logically reconstruct scrambled word blocks.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846040"/>
            <a:ext cx="340042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pace Grotesk"/>
              </a:rPr>
              <a:t>Known Plaintext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303240"/>
            <a:ext cx="26860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Using a known phrase to easily reveal the column length and grid structure.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846040"/>
            <a:ext cx="340042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pace Grotesk"/>
              </a:rPr>
              <a:t>Key 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303240"/>
            <a:ext cx="26860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Short transposition keys are highly susceptible to rapid brute-force attacks.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57250" y="2314575"/>
            <a:ext cx="4857750" cy="2562225"/>
          </a:xfrm>
          <a:prstGeom prst="roundRect">
            <a:avLst>
              <a:gd name="adj" fmla="val 74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77000" y="2314575"/>
            <a:ext cx="4857750" cy="2343150"/>
          </a:xfrm>
          <a:prstGeom prst="roundRect">
            <a:avLst>
              <a:gd name="adj" fmla="val 81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57250" y="2314575"/>
            <a:ext cx="485775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77000" y="2314575"/>
            <a:ext cx="48577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97957" y="762000"/>
            <a:ext cx="5769666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Space Grotesk"/>
              </a:rPr>
              <a:t>The Security 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5117" y="1438275"/>
            <a:ext cx="692720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64748B"/>
                </a:solidFill>
                <a:latin typeface="Inter"/>
              </a:rPr>
              <a:t>Claude Shannon's dual pillars of modern cryptography.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8250" y="2733675"/>
            <a:ext cx="5375671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3B82F6"/>
                </a:solidFill>
                <a:latin typeface="Space Grotesk"/>
              </a:rPr>
              <a:t>Substitution (Confusion)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733675"/>
            <a:ext cx="5334000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Transposition (Diffusion)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3314700"/>
            <a:ext cx="5119687" cy="219075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Alters character identities.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8250" y="3686175"/>
            <a:ext cx="4191000" cy="43815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Hides the relationship between ciphertext and key.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8250" y="4276725"/>
            <a:ext cx="5119687" cy="219075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EF4444"/>
                </a:solidFill>
                <a:latin typeface="Inter"/>
              </a:rPr>
              <a:t>Broken by statistical frequency analysis.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314700"/>
            <a:ext cx="5119687" cy="219075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Alters character positions.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686175"/>
            <a:ext cx="5119687" cy="219075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Dissipates statistical structure across the text.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057650"/>
            <a:ext cx="5119687" cy="219075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EF4444"/>
                </a:solidFill>
                <a:latin typeface="Inter"/>
              </a:rPr>
              <a:t>Broken by structural anagramming.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19800" y="1003845"/>
            <a:ext cx="5410200" cy="3667125"/>
          </a:xfrm>
          <a:prstGeom prst="roundRect">
            <a:avLst>
              <a:gd name="adj" fmla="val 62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1461045"/>
            <a:ext cx="4991100" cy="714375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29350" y="2480220"/>
            <a:ext cx="4991100" cy="714375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29350" y="3499395"/>
            <a:ext cx="4991100" cy="714375"/>
          </a:xfrm>
          <a:prstGeom prst="roundRect">
            <a:avLst>
              <a:gd name="adj" fmla="val 16000"/>
            </a:avLst>
          </a:prstGeom>
          <a:solidFill>
            <a:srgbClr val="F5F3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762000"/>
            <a:ext cx="5619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Space Grotesk"/>
              </a:rP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85850"/>
            <a:ext cx="5900737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Space Grotesk"/>
              </a:rPr>
              <a:t>The Product Cipher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969740"/>
            <a:ext cx="459105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64748B"/>
                </a:solidFill>
                <a:latin typeface="Inter"/>
              </a:rPr>
              <a:t>To overcome individual weaknesses, modern cryptography cascades multiple weak ciphers into a single, impenetrable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217515"/>
            <a:ext cx="4591050" cy="49530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Concept:</a:t>
            </a:r>
            <a:r>
              <a:rPr sz="1650" b="0" i="0" u="none">
                <a:solidFill>
                  <a:srgbClr val="0F172A"/>
                </a:solidFill>
                <a:latin typeface="Inter"/>
              </a:rPr>
              <a:t> Alternating layers of substitution and transposition.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941415"/>
            <a:ext cx="4591050" cy="49530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Result:</a:t>
            </a:r>
            <a:r>
              <a:rPr sz="1650" b="0" i="0" u="none">
                <a:solidFill>
                  <a:srgbClr val="0F172A"/>
                </a:solidFill>
                <a:latin typeface="Inter"/>
              </a:rPr>
              <a:t> A synergistic effect where weaknesses cancel 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665315"/>
            <a:ext cx="5619750" cy="247650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Standard:</a:t>
            </a:r>
            <a:r>
              <a:rPr sz="1650" b="0" i="0" u="none">
                <a:solidFill>
                  <a:srgbClr val="0F172A"/>
                </a:solidFill>
                <a:latin typeface="Inter"/>
              </a:rPr>
              <a:t> Modern algorithms like AES.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5025" y="1708695"/>
            <a:ext cx="56197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E40AF"/>
                </a:solidFill>
                <a:latin typeface="Space Grotesk"/>
              </a:rPr>
              <a:t>Substitution Round (Confusion)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5025" y="2727870"/>
            <a:ext cx="56197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65F46"/>
                </a:solidFill>
                <a:latin typeface="Space Grotesk"/>
              </a:rPr>
              <a:t>Transposition Round (Diffusion)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5025" y="3747045"/>
            <a:ext cx="56197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5B21B6"/>
                </a:solidFill>
                <a:latin typeface="Space Grotesk"/>
              </a:rPr>
              <a:t>Substitution Round (Confusion)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847975"/>
            <a:ext cx="3352800" cy="2590800"/>
          </a:xfrm>
          <a:prstGeom prst="roundRect">
            <a:avLst>
              <a:gd name="adj" fmla="val 735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19600" y="2847975"/>
            <a:ext cx="3352800" cy="2590800"/>
          </a:xfrm>
          <a:prstGeom prst="roundRect">
            <a:avLst>
              <a:gd name="adj" fmla="val 735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47975"/>
            <a:ext cx="3352800" cy="2590800"/>
          </a:xfrm>
          <a:prstGeom prst="roundRect">
            <a:avLst>
              <a:gd name="adj" fmla="val 735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2847975"/>
            <a:ext cx="33528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419600" y="2847975"/>
            <a:ext cx="33528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7200" y="2847975"/>
            <a:ext cx="33528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7620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82F6"/>
                </a:solidFill>
                <a:latin typeface="Space Grotesk"/>
              </a:rPr>
              <a:t>THE GOLD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085850"/>
            <a:ext cx="11430000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Space Grotesk"/>
              </a:rPr>
              <a:t>Advanced Encryption Standard (AES)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762125"/>
            <a:ext cx="77152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AES explicitly pairs both techniques in 10 to 14 rounds, processing 128-bit blocks to achieve unbreakable military-grade security.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267075"/>
            <a:ext cx="340042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Space Grotesk"/>
              </a:rPr>
              <a:t>SubBytes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686175"/>
            <a:ext cx="3238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82F6"/>
                </a:solidFill>
                <a:latin typeface="Space Grotesk"/>
              </a:rPr>
              <a:t>SUBSTITUTION PHASE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29075"/>
            <a:ext cx="26860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Replaces each byte using a non-linear S-box, ensuring robust Confusion against frequency attacks.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267075"/>
            <a:ext cx="340042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Space Grotesk"/>
              </a:rPr>
              <a:t>ShiftRows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686175"/>
            <a:ext cx="3238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Space Grotesk"/>
              </a:rPr>
              <a:t>TRANSPOSITION PHASE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4029075"/>
            <a:ext cx="26860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Cyclically shifts matrix rows to cleanly scatter state bytes across multiple columns.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267075"/>
            <a:ext cx="340042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Space Grotesk"/>
              </a:rPr>
              <a:t>MixColumns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686175"/>
            <a:ext cx="3238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8B5CF6"/>
                </a:solidFill>
                <a:latin typeface="Space Grotesk"/>
              </a:rPr>
              <a:t>DIFFUSION AMPLIFIER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4029075"/>
            <a:ext cx="26860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Mathematically combines bytes in each column to trigger a massive structural avalanche effect.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478</Words>
  <Application>Microsoft Office PowerPoint</Application>
  <PresentationFormat>Widescreen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Times New Roman</vt:lpstr>
      <vt:lpstr>Calibri</vt:lpstr>
      <vt:lpstr>Inter</vt:lpstr>
      <vt:lpstr>Arial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sandeep reddy</dc:creator>
  <cp:keywords/>
  <dc:description>generated using python-pptx</dc:description>
  <cp:lastModifiedBy>sandeep reddy</cp:lastModifiedBy>
  <cp:revision>3</cp:revision>
  <dcterms:created xsi:type="dcterms:W3CDTF">2013-01-27T09:14:16Z</dcterms:created>
  <dcterms:modified xsi:type="dcterms:W3CDTF">2026-10-08T05:21:30Z</dcterms:modified>
  <cp:category/>
</cp:coreProperties>
</file>